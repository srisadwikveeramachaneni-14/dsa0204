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Alexandria Medium" panose="020B0604020202020204" charset="-78"/>
      <p:regular r:id="rId12"/>
    </p:embeddedFont>
    <p:embeddedFont>
      <p:font typeface="Manrope" panose="020B0604020202020204" charset="0"/>
      <p:regular r:id="rId13"/>
    </p:embeddedFont>
    <p:embeddedFont>
      <p:font typeface="Manrop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890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Image Processing vs Computer Vision: Seeing Through the Digital Lens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concise exploration of two tightly related fields: one that perfects pixels for human viewing, and one that interprets pixels to drive machines. This deck clarifies differences, shared tools, historical milestones and the modern frontier of machine perception.</a:t>
            </a:r>
            <a:endParaRPr lang="en-US" sz="11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9D81F-497C-9606-C80C-1E57BA324F46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93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Defining the Spectrum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69728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108100"/>
            <a:ext cx="4327773" cy="252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Image Processing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Transforming raw images into improved versions for human consumption — denoising, restoration, contrast and compression. Typical goal: visually better pixels.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Computer Vision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Algorithms that convert imagery into symbolic, machine-readable information—detection, segmentation, measurement, and decision-making. Typical goal: actionable understanding.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overlap: both use filtering, feature extraction and optimisation. The distinction lies in objectives: aesthetic fidelity vs. semantic interpretation.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324796" y="3790801"/>
            <a:ext cx="4327773" cy="779562"/>
          </a:xfrm>
          <a:prstGeom prst="roundRect">
            <a:avLst>
              <a:gd name="adj" fmla="val 27278"/>
            </a:avLst>
          </a:prstGeom>
          <a:solidFill>
            <a:srgbClr val="CDEFF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4010620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5494" y="3953768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Theme accents use the deck colours (noted in brief): #AAE4FE and complementary blues for emphasis.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6907D2-4E38-5AC7-40EE-C9127C5DA5C0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11225"/>
            <a:ext cx="4722763" cy="686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Era of Enhancement (1960s–1980s)</a:t>
            </a:r>
            <a:endParaRPr lang="en-US" sz="2150" dirty="0"/>
          </a:p>
        </p:txBody>
      </p:sp>
      <p:sp>
        <p:nvSpPr>
          <p:cNvPr id="4" name="Shape 1"/>
          <p:cNvSpPr/>
          <p:nvPr/>
        </p:nvSpPr>
        <p:spPr>
          <a:xfrm>
            <a:off x="3925119" y="1397273"/>
            <a:ext cx="2294855" cy="2090886"/>
          </a:xfrm>
          <a:prstGeom prst="roundRect">
            <a:avLst>
              <a:gd name="adj" fmla="val 985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7175" y="1539329"/>
            <a:ext cx="2010742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Image Processing Milestones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7175" y="2048173"/>
            <a:ext cx="2010742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Restoration, contrast enhancement and compression techniques matured for medical imaging and remote sensing—practical improvements to how humans read images.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352952" y="1397273"/>
            <a:ext cx="2294930" cy="2090886"/>
          </a:xfrm>
          <a:prstGeom prst="roundRect">
            <a:avLst>
              <a:gd name="adj" fmla="val 985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5008" y="1539329"/>
            <a:ext cx="201081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Early Computer Vision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5008" y="1833637"/>
            <a:ext cx="2010817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Research focused on interpreting simple synthetic scenes and line drawings (MIT and academic prototypes), testing the limits of symbolic image understanding.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25119" y="3621137"/>
            <a:ext cx="4722763" cy="1011064"/>
          </a:xfrm>
          <a:prstGeom prst="roundRect">
            <a:avLst>
              <a:gd name="adj" fmla="val 20375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7175" y="3763194"/>
            <a:ext cx="443865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Methodological Shift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7175" y="4057501"/>
            <a:ext cx="4438650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 the late 1980s research moved from attempting full scene understanding toward mathematically rigorous, task-specific models.</a:t>
            </a:r>
            <a:endParaRPr lang="en-US" sz="10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ED30A8-CA1C-1A22-8EF5-F883E38F8940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Computer Vision: Giving Eyes to Machines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Bridging human perception and machine intelligence to transform how visual data is understood, acted on and scaled across industries. From pixels to actionable insight — enabling faster decisions, expanded reach and new services.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61B78-4EF0-891F-1D33-2C196ED74C27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3704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Foundations: From Early Concepts to Digital Reality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55937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809824"/>
            <a:ext cx="520987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Historical milestones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899892" y="2164184"/>
            <a:ext cx="4752677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1960s — Birth of machine image processing: basic edge detection and pattern matching.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1970s — David Marr's computational framework: levels of vision (computational, algorithmic, implementational).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1990s–2010s — Feature engineering to statistical learning: SIFT, HOG, support vectors and boosted trees.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3751734"/>
            <a:ext cx="475267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Technical pillars</a:t>
            </a: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AI models, signal processing, optimisation, and inspiration from neurobiology shape modern pipelines (preprocessing, representation, detection, understanding).</a:t>
            </a:r>
            <a:endParaRPr lang="en-US" sz="11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8FA695-2C6F-C0C8-E492-4A1790178341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45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Scaling Impact: Industry Transformations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41090"/>
            <a:ext cx="552450" cy="341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341090"/>
            <a:ext cx="11753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5748" y="1647602"/>
            <a:ext cx="1175370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 augments diagnosis — automated X‑ray/MRI analysis, triage prioritisation and early disease detection to reduce time-to-treatment.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341090"/>
            <a:ext cx="552450" cy="341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34109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Retail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307928" y="1647602"/>
            <a:ext cx="1175445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Shelf analytics, inventory tracking and cashier‑free checkout streamline operations and personalise customer experiences.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341090"/>
            <a:ext cx="552450" cy="341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34109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390183" y="1647602"/>
            <a:ext cx="1175445" cy="2041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Drone and satellite vision enable precision farming: crop-health maps, pest detection and optimised irrigation for higher yields.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341090"/>
            <a:ext cx="552450" cy="341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341090"/>
            <a:ext cx="11754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Surveillance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472437" y="1647602"/>
            <a:ext cx="1175445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Real‑time pattern detection and behaviour analytics improve public safety, while raising important questions about privacy and governance.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96119" y="407521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sector applies core CV capabilities (detection, segmentation, tracking, recognition) to distinct workflows — delivering efficiency, scale and new services while requiring domain integration and ethical oversight.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B4CDF1-C762-364A-A234-ECD0431B180A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Digital Image Fundamentals: From Light to Pixels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continuous light becomes discrete digital information. This short deck explains sensors, pixels, sampling, resolution and quantization — the core ideas designers and engineers use to control image quality, file size and visual fidelity.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21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Sampling &amp; Resolution: How Detail Is Captured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30797"/>
            <a:ext cx="3908375" cy="154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4115" y="2264787"/>
            <a:ext cx="777499" cy="105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Continuous light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104115" y="2400658"/>
            <a:ext cx="777499" cy="16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Unsampled scene with full detail</a:t>
            </a:r>
            <a:endParaRPr lang="en-US" sz="500" dirty="0"/>
          </a:p>
        </p:txBody>
      </p:sp>
      <p:sp>
        <p:nvSpPr>
          <p:cNvPr id="6" name="Text 3"/>
          <p:cNvSpPr/>
          <p:nvPr/>
        </p:nvSpPr>
        <p:spPr>
          <a:xfrm>
            <a:off x="2070729" y="2436154"/>
            <a:ext cx="777499" cy="105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Coarse sampling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2070729" y="2572025"/>
            <a:ext cx="777499" cy="16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Visible blockiness and aliasing risks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048626" y="2264787"/>
            <a:ext cx="777499" cy="105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Fine sampling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048626" y="2400658"/>
            <a:ext cx="777499" cy="16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 spatial resolution, smooth details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496119" y="3422303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Sampling overlays a grid on the continuous scene. More samples per unit area = higher spatial resolution and finer detail.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744269" y="1238845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concepts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744269" y="1586359"/>
            <a:ext cx="3908375" cy="182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Sampling rate: pixels per inch (ppi) or dots per inch (dpi) — higher values capture smaller details.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Aliasing: coarse sampling misrepresents high-frequency detail (jaggies, moiré). Use anti‑aliasing or higher sampling to reduce it.</a:t>
            </a:r>
            <a:endParaRPr lang="en-US" sz="1050" dirty="0"/>
          </a:p>
          <a:p>
            <a:pPr marL="213360" indent="-213360" algn="l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Practical targets: on-screen work often uses 72–150 ppi; print and professional images typically require 200–300 ppi or more.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44269" y="3559597"/>
            <a:ext cx="3908375" cy="957039"/>
          </a:xfrm>
          <a:prstGeom prst="roundRect">
            <a:avLst>
              <a:gd name="adj" fmla="val 21525"/>
            </a:avLst>
          </a:prstGeom>
          <a:solidFill>
            <a:srgbClr val="B6D6F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563" y="3768179"/>
            <a:ext cx="171599" cy="1372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0455" y="3713634"/>
            <a:ext cx="332489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Workflow note: Increasing resolution increases memory and processing cost — balance needs vs resources.</a:t>
            </a:r>
            <a:endParaRPr lang="en-US" sz="10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AB186-2810-4105-F058-660EE47157B0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2936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Quantization &amp; Grayscale Depth — Shades of Accuracy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51558"/>
            <a:ext cx="3929955" cy="2226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22688" y="1446609"/>
            <a:ext cx="392995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brightness becomes numbers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22688" y="1734369"/>
            <a:ext cx="39299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Quantization maps continuous luminance to discrete numeric levels per pixel. Bit depth sets the number of available shades and determines subtlety in tones.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22688" y="2406774"/>
            <a:ext cx="3929955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722688" y="2564383"/>
            <a:ext cx="3929955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 practice, image fidelity is a joint function of sampling (spatial detail) and quantization (tonal precision). Optimise both to match your display, workflow and storage constraints.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96119" y="3605436"/>
            <a:ext cx="2649959" cy="1025128"/>
          </a:xfrm>
          <a:prstGeom prst="roundRect">
            <a:avLst>
              <a:gd name="adj" fmla="val 1750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0464" y="3729782"/>
            <a:ext cx="24012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8-bit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20464" y="3977134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256 levels — standard for many images and displays; small gradients may show banding.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983" y="3605436"/>
            <a:ext cx="2649959" cy="1025128"/>
          </a:xfrm>
          <a:prstGeom prst="roundRect">
            <a:avLst>
              <a:gd name="adj" fmla="val 1750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71329" y="3729782"/>
            <a:ext cx="24012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10–12 bit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71329" y="3977134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1,024–4,096+ levels — used in professional photo, video and medical imaging for smoother tonal transitions and analysis.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97848" y="3605436"/>
            <a:ext cx="2649959" cy="1025128"/>
          </a:xfrm>
          <a:prstGeom prst="roundRect">
            <a:avLst>
              <a:gd name="adj" fmla="val 1750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2194" y="3729782"/>
            <a:ext cx="240126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Trade-offs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22194" y="3977134"/>
            <a:ext cx="2401267" cy="52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bit depth increases fidelity but also file size and processing demands. Choose depth to fit the application.</a:t>
            </a:r>
            <a:endParaRPr lang="en-US" sz="9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1E5CB7-C3B7-5E61-02C3-24E36C647FDF}"/>
              </a:ext>
            </a:extLst>
          </p:cNvPr>
          <p:cNvSpPr/>
          <p:nvPr/>
        </p:nvSpPr>
        <p:spPr>
          <a:xfrm>
            <a:off x="7934178" y="4775982"/>
            <a:ext cx="1139484" cy="2883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820</Words>
  <Application>Microsoft Office PowerPoint</Application>
  <PresentationFormat>On-screen Show (16:9)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Alexandria Medium</vt:lpstr>
      <vt:lpstr>Arial</vt:lpstr>
      <vt:lpstr>Manrope</vt:lpstr>
      <vt:lpstr>Manrope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sampath reddy</dc:creator>
  <cp:lastModifiedBy>sampath reddy</cp:lastModifiedBy>
  <cp:revision>2</cp:revision>
  <dcterms:created xsi:type="dcterms:W3CDTF">2026-07-14T15:23:16Z</dcterms:created>
  <dcterms:modified xsi:type="dcterms:W3CDTF">2026-07-14T15:39:55Z</dcterms:modified>
</cp:coreProperties>
</file>